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20"/>
              </a:spcAft>
              <a:defRPr sz="5200" b="1">
                <a:solidFill>
                  <a:srgbClr val="C6603F"/>
                </a:solidFill>
                <a:latin typeface="Calibri"/>
              </a:defRPr>
            </a:pPr>
            <a:r>
              <a:t>Exchange Rate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6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Real-Time Currency Exchange Rates for Developers</a:t>
            </a:r>
          </a:p>
          <a:p>
            <a:pPr algn="ctr">
              <a:spcAft>
                <a:spcPts val="1200"/>
              </a:spcAft>
              <a:defRPr sz="2000" b="0">
                <a:solidFill>
                  <a:srgbClr val="555555"/>
                </a:solidFill>
                <a:latin typeface="Calibri"/>
              </a:defRPr>
            </a:pPr>
            <a:r>
              <a:t>Mid-Market Rates from Reuters | 160+ Currencies | REST API &amp; SDKs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4206240"/>
            <a:ext cx="2286000" cy="5029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6603F"/>
                </a:solidFill>
                <a:latin typeface="Calibri"/>
              </a:defRPr>
            </a:pPr>
            <a:r>
              <a:t>Real-Time 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206240"/>
            <a:ext cx="2286000" cy="5029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6603F"/>
                </a:solidFill>
                <a:latin typeface="Calibri"/>
              </a:defRPr>
            </a:pPr>
            <a:r>
              <a:t>160+ Currencies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2286000" cy="5029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6603F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206240"/>
            <a:ext cx="2286000" cy="5029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6603F"/>
                </a:solidFill>
                <a:latin typeface="Calibri"/>
              </a:defRPr>
            </a:pPr>
            <a:r>
              <a:t>OpenAPI 3.1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603F"/>
                </a:solidFill>
                <a:latin typeface="Calibri"/>
              </a:defRPr>
            </a:pPr>
            <a:r>
              <a:t>exchange-rateapi.com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Mid-Market Forex Rates · Reuters/Refinitiv Data · Machine &amp; AI Ready · Built for Developers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Problem with Exchange Rate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Unreliable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Many free APIs serve stale or inaccurate rates with hidden markups that distort true currency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457200" cy="45720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Not Machine-Readable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16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Most APIs lack OpenAPI specs, structured error codes, and AI-discovery endpoints — unusable by modern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457200" cy="45720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Expensive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Accurate exchange rate APIs charge $50-$300/month even for basic access, locking out startups and indie devs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457200" cy="45720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Limited Currency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28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Competing APIs often cover only 30-50 currencies, leaving emerging markets unsupported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457200" cy="45720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No Historical Data on Free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338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Historical rate access is usually paywalled, making trend analysis and reporting inaccessible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Solution: Exchange Rate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Calibri"/>
              </a:defRPr>
            </a:pPr>
            <a:r>
              <a:t>A fast, reliable REST API delivering real-time and historical exchange rates</a:t>
            </a:r>
            <a:br/>
            <a:r>
              <a:t>for 160+ currencies — built for developers, designed for machines, powered by Reuters.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Updated Every 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Real-time mid-market rates refreshed every minute from Reuters/Refinitiv feeds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160+ Currencies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From USD, EUR, GBP to emerging markets like NGN, BDT, PKR plus precious metals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Historical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Access historical rates for any date — perfect for trend analysis &amp; financial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AI &amp; Machine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71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OpenAPI 3.1 spec, structured error codes, AI plugin manifest for agent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Edge-Deployed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Powered by Cloudflare Workers for sub-50ms response times globally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Calibri"/>
              </a:defRPr>
            </a:pPr>
            <a:r>
              <a:t>Free to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300 requests/month free — no credit card required to get your API 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API Endpoints &amp;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/api/v1/rates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Exchange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783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Fetch real-time or historical rates for one or multiple currency pairs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/api/v1/symbols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Supported Currencies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List all 160+ supported currency codes with names and symbols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36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/api/rate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Public Rate (No Auth)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Quick single-pair lookup — no API key required for basic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593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/api/openapi.json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OpenAPI 3.1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Machine-readable API schema for auto-discovery by tools and AI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823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/.well-known/ai-plugin.json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AI Plugin 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Enables discovery by AI assistants and LLM tool-use platforms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438912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052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onsolas"/>
              </a:defRPr>
            </a:pPr>
            <a:r>
              <a:t>GET /api/historical-rates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Historical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897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Preset period queries: 1 day, 7 days, 30 days, or 1 year of rate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Quick Start: Integrate in Under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JavaScript /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onsolas"/>
              </a:defRPr>
            </a:pPr>
            <a:r>
              <a:t>npm install @exchangerateapi/sdk</a:t>
            </a:r>
            <a:br/>
            <a:br/>
            <a:r>
              <a:t>import { ExchangeRateAPI } from '@exchangerateapi/sdk';</a:t>
            </a:r>
            <a:br/>
            <a:br/>
            <a:r>
              <a:t>const client = new ExchangeRateAPI('era_live_...');</a:t>
            </a:r>
            <a:br/>
            <a:br/>
            <a:r>
              <a:t>// Get latest rates</a:t>
            </a:r>
            <a:br/>
            <a:r>
              <a:t>const rates = await client.getRates({</a:t>
            </a:r>
            <a:br/>
            <a:r>
              <a:t>  source: 'USD',</a:t>
            </a:r>
            <a:br/>
            <a:r>
              <a:t>  target: 'EUR,GBP,JPY'</a:t>
            </a:r>
            <a:br/>
            <a:r>
              <a:t>});</a:t>
            </a:r>
            <a:br/>
            <a:r>
              <a:t>console.log(rates[0].rate);  // 0.9234</a:t>
            </a:r>
            <a:br/>
            <a:br/>
            <a:r>
              <a:t>// Multi-target query</a:t>
            </a:r>
            <a:br/>
            <a:r>
              <a:t>const multi = await client.getRates({</a:t>
            </a:r>
            <a:br/>
            <a:r>
              <a:t>  source: 'USD',</a:t>
            </a:r>
            <a:br/>
            <a:r>
              <a:t>  target: 'EUR,GBP,JPY,CAD,AUD'</a:t>
            </a:r>
            <a:br/>
            <a: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onsolas"/>
              </a:defRPr>
            </a:pPr>
            <a:r>
              <a:t>pip install exchange-rateapi</a:t>
            </a:r>
            <a:br/>
            <a:br/>
            <a:r>
              <a:t>from exchange_rateapi import ExchangeRateAPI</a:t>
            </a:r>
            <a:br/>
            <a:br/>
            <a:r>
              <a:t>client = ExchangeRateAPI('era_live_...')</a:t>
            </a:r>
            <a:br/>
            <a:br/>
            <a:r>
              <a:t># Get latest rates</a:t>
            </a:r>
            <a:br/>
            <a:r>
              <a:t>rates = client.get_rates(</a:t>
            </a:r>
            <a:br/>
            <a:r>
              <a:t>    source='USD',</a:t>
            </a:r>
            <a:br/>
            <a:r>
              <a:t>    target='EUR,GBP,JPY'</a:t>
            </a:r>
            <a:br/>
            <a:r>
              <a:t>)</a:t>
            </a:r>
            <a:br/>
            <a:r>
              <a:t>print(rates[0]['rate'])  # 0.9234</a:t>
            </a:r>
            <a:br/>
            <a:br/>
            <a:r>
              <a:t># cURL — no SDK needed</a:t>
            </a:r>
            <a:br/>
            <a:r>
              <a:t># curl -H "Authorization: Bearer era_live_..."</a:t>
            </a:r>
            <a:br/>
            <a:r>
              <a:t>#   "https://exchange-rateapi.com/api/v1/rates</a:t>
            </a:r>
            <a:br/>
            <a:r>
              <a:t>#    ?source=USD&amp;target=EUR,GBP"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Official SDKs: Your Language,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280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JavaScript /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72768"/>
            <a:ext cx="59436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5910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A88E"/>
                </a:solidFill>
                <a:latin typeface="Consolas"/>
              </a:defRPr>
            </a:pPr>
            <a:r>
              <a:t>$ npm install @exchangerateapi/sdk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Package: @exchangerateapi/sdk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Zero dependencies · CommonJS + ESM · Full TypeScript types · Node.js 18+ &amp;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73152" cy="1280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035808"/>
            <a:ext cx="59436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0540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A88E"/>
                </a:solidFill>
                <a:latin typeface="Consolas"/>
              </a:defRPr>
            </a:pPr>
            <a:r>
              <a:t>$ pip install exchange-rateapi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Package: exchange-rateapi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Zero dependencies · Pure stdlib (urllib + json) · Python 3.8+ · Type hints included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73152" cy="1280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PHP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4498848"/>
            <a:ext cx="59436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5171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A88E"/>
                </a:solidFill>
                <a:latin typeface="Consolas"/>
              </a:defRPr>
            </a:pPr>
            <a:r>
              <a:t>$ composer require exchangerateapi/sdk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Package: exchangerateapi/sdk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PHP 7.4+ · cURL + JSON extensions · PSR-compatible · Lightweight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Institutional-Grade Data You Can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Reuters (Refinitiv) — global standard for institutional forex data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Interbank market feeds — the same rates banks use internally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Mid-market rates — the true midpoint between buy and sell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No hidden spreads or markups — what you see is what you get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Updated every 60 seconds during market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Machine-First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OpenAPI 3.1 spec at /api/openapi.json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Structured error codes (error_code field) on every error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Rate-limit headers: X-RateLimit-Limit, Remaining, Reset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AI plugin manifest at /.well-known/ai-plugin.json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Consistent JSON responses with ISO 8601 timestamps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●  CORS-enabled for browser and agent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02F"/>
                </a:solidFill>
                <a:latin typeface="Calibri"/>
              </a:defRPr>
            </a:pPr>
            <a:r>
              <a:t>"Exchange Rate API delivers institutional-grade mid-market rates from Reuters — designed for both human developers and AI agents from the ground up."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Built for Every Industry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Fintech &amp;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Power payment apps, digital wallets, and remittance platforms with accurate real-time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Display localized prices for international customers and calculate multi-currency checkouts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AI Agents &amp;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AI assistants auto-discover the API via OpenAPI spec and ai-plugin.json for tool-use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Trading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23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Build forex dashboards, price alerts, and historical trend analysis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Enterprise ERP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Automate multi-currency accounting, invoicing, and financial consolidation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9748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Travel &amp; Hospitality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Show real-time conversion rates for booking platforms and travel expense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Power BI &amp; Sheets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Pull live exchange rates into spreadsheets and BI dashboards via REST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66360"/>
            <a:ext cx="5029200" cy="1051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A1A2E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Gaming &amp; Digital Goods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623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Price in-app purchases and virtual goods in 160+ local currencies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Exchange Rate API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645920"/>
            <a:ext cx="731520" cy="73152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Reuters &amp; interbank feeds</a:t>
            </a:r>
            <a:br/>
            <a:r>
              <a:t>push rates every 60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6603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645920"/>
            <a:ext cx="731520" cy="73152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Rates validated, normalized</a:t>
            </a:r>
            <a:br/>
            <a:r>
              <a:t>&amp; stored in Cloudflare KV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6603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0" y="1645920"/>
            <a:ext cx="731520" cy="73152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Edge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Cloudflare Workers serve</a:t>
            </a:r>
            <a:br/>
            <a:r>
              <a:t>from 300+ global PoPs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6603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0" y="1645920"/>
            <a:ext cx="731520" cy="73152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Your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Sub-50ms response via</a:t>
            </a:r>
            <a:br/>
            <a:r>
              <a:t>REST API or native SDK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474720" cy="11887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02F"/>
                </a:solidFill>
                <a:latin typeface="Calibri"/>
              </a:defRPr>
            </a:pPr>
            <a:r>
              <a:t>300+ Edge Locations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Responses served from the nearest Cloudflare PoP to your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389120"/>
            <a:ext cx="3474720" cy="11887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02F"/>
                </a:solidFill>
                <a:latin typeface="Calibri"/>
              </a:defRPr>
            </a:pPr>
            <a:r>
              <a:t>99.9% Uptime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Enterprise-grade reliability backed by Cloudflare's global infrastructure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8" y="4389120"/>
            <a:ext cx="3474720" cy="118872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8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02F"/>
                </a:solidFill>
                <a:latin typeface="Calibri"/>
              </a:defRPr>
            </a:pPr>
            <a:r>
              <a:t>&lt; 50ms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Sub-50 millisecond response times for most global regions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Clean, Predictable JSON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A88E"/>
                </a:solidFill>
                <a:latin typeface="Consolas"/>
              </a:defRPr>
            </a:pPr>
            <a:r>
              <a:t>curl -H "Authorization: Bearer era_live_..."</a:t>
            </a:r>
            <a:br/>
            <a:r>
              <a:t>  "https://exchange-rateapi.com/api/v1/rates</a:t>
            </a:r>
            <a:br/>
            <a:r>
              <a:t>   ?source=USD&amp;target=EUR,GBP,JPY"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Response (200 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nsolas"/>
              </a:defRPr>
            </a:pPr>
            <a:r>
              <a:t>[</a:t>
            </a:r>
            <a:br/>
            <a:r>
              <a:t>  {</a:t>
            </a:r>
            <a:br/>
            <a:r>
              <a:t>    "rate": 0.8588,</a:t>
            </a:r>
            <a:br/>
            <a:r>
              <a:t>    "source": "USD",</a:t>
            </a:r>
            <a:br/>
            <a:r>
              <a:t>    "target": "EUR",</a:t>
            </a:r>
            <a:br/>
            <a:r>
              <a:t>    "time": "2026-05-25T21:34:19+0000"</a:t>
            </a:r>
            <a:br/>
            <a:r>
              <a:t>  },</a:t>
            </a:r>
            <a:br/>
            <a:r>
              <a:t>  {</a:t>
            </a:r>
            <a:br/>
            <a:r>
              <a:t>    "rate": 0.7491,</a:t>
            </a:r>
            <a:br/>
            <a:r>
              <a:t>    "source": "USD",</a:t>
            </a:r>
            <a:br/>
            <a:r>
              <a:t>    "target": "GBP",</a:t>
            </a:r>
            <a:br/>
            <a:r>
              <a:t>    "time": "2026-05-25T21:34:19+0000"</a:t>
            </a:r>
            <a:br/>
            <a:r>
              <a:t>  },</a:t>
            </a:r>
            <a:br/>
            <a:r>
              <a:t>  {</a:t>
            </a:r>
            <a:br/>
            <a:r>
              <a:t>    "rate": 142.85,</a:t>
            </a:r>
            <a:br/>
            <a:r>
              <a:t>    "source": "USD",</a:t>
            </a:r>
            <a:br/>
            <a:r>
              <a:t>    "target": "JPY",</a:t>
            </a:r>
            <a:br/>
            <a:r>
              <a:t>    "time": "2026-05-25T21:34:19+0000"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Response 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X-RateLimit-Limit: 5000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X-RateLimit-Remaining: 4832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X-RateLimit-Reset: 2026-06-01T00:00:00.000Z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Cache-Control: public, max-age=60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Structured error_code on every error response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✓  CORS-enabled for browser &amp; agent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Simple, Developer-Friendly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300 requests/month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Real-time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160+ currencies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All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Community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63040"/>
            <a:ext cx="2697480" cy="457200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463040"/>
            <a:ext cx="2697480" cy="32004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49047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$4.99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889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5,000 requests/month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Everything in 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Historical data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Email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Rate-limit headers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46304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$9.99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889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10,000 requests/month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Everything in Small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Priority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Higher rate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Usage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1463040"/>
            <a:ext cx="26974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Large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$49.99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7889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100,000 requests/month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Everything in 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Dedicated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SLA guarantee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Custom solutions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No credit card required for Free tier  •  Cancel anytime  •  Yearly plans save 17%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Exchange Rate API Compares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286000" cy="457200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71600"/>
            <a:ext cx="2286000" cy="45720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Exchange Rate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371600"/>
            <a:ext cx="2377440" cy="457200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 Exchange Rates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371600"/>
            <a:ext cx="1828800" cy="457200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Fixer.io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371600"/>
            <a:ext cx="2103120" cy="457200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CurrencyLayer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28800"/>
            <a:ext cx="2286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83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1828800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883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300 req/mo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28800"/>
            <a:ext cx="2377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8836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1,000 req/mo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828800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83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100 req/mo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828800"/>
            <a:ext cx="2103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8836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100 req/mo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267712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322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Currencies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267712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322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160+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267712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3225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170+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226771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2322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170+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267712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322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706624"/>
            <a:ext cx="2286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Update Frequency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2706624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60 seconds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706624"/>
            <a:ext cx="2377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2761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 hour (free)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2706624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2761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706624"/>
            <a:ext cx="2103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145536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Historical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3145536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✓ All plans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145536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Paid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3145536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Paid only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3145536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Paid 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584448"/>
            <a:ext cx="2286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3584448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Reuters/Interbank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584448"/>
            <a:ext cx="2377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3639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Multiple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3584448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0" y="3639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ECB/Banks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584448"/>
            <a:ext cx="2103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Multiple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02336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OpenAPI Spec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40" y="4023360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3464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✓ 3.1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0" y="402336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0" y="40782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80" y="402336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0" y="4078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0" y="4023360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0" y="40782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462272"/>
            <a:ext cx="2286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45171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AI Plugin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40" y="4462272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40" y="45171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20640" y="4462272"/>
            <a:ext cx="2377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0" y="45171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4462272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98080" y="4517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26880" y="4462272"/>
            <a:ext cx="2103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26880" y="45171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4901184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4956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Official SDKs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34640" y="4901184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34640" y="4956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JS, Python, PHP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20640" y="4901184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2064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Ruby, Node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0" y="4901184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98080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26880" y="4901184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0" y="49560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JS, PHP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5340096"/>
            <a:ext cx="22860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Edge Deployed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34640" y="5340096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3464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✓ Cloudflare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20640" y="5340096"/>
            <a:ext cx="2377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2064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80" y="5340096"/>
            <a:ext cx="18288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26880" y="5340096"/>
            <a:ext cx="2103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2688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5779008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5833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Starting Price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34640" y="5779008"/>
            <a:ext cx="2286000" cy="438912"/>
          </a:xfrm>
          <a:prstGeom prst="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34640" y="5833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02F"/>
                </a:solidFill>
                <a:latin typeface="Calibri"/>
              </a:defRPr>
            </a:pPr>
            <a:r>
              <a:t>Free / $4.99/mo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20640" y="5779008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20640" y="5833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$12/mo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98080" y="5779008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98080" y="5833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$10/mo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26880" y="5779008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6880" y="5833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$15/mo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Get Started in 3 Simple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1920240"/>
            <a:ext cx="914400" cy="91440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Sign Up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Create your account at exchange-rateapi.com/register</a:t>
            </a:r>
            <a:br/>
            <a:r>
              <a:t>No credit card required — instant API key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389120"/>
            <a:ext cx="1645920" cy="32004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6603F"/>
                </a:solidFill>
                <a:latin typeface="Calibri"/>
              </a:defRPr>
            </a:pPr>
            <a:r>
              <a:t>Takes 30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9" y="1920240"/>
            <a:ext cx="914400" cy="91440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9659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Install Your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Choose your language: npm, pip, or composer</a:t>
            </a:r>
            <a:br/>
            <a:r>
              <a:t>Or use the REST API directly with any HTTP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59" y="4389120"/>
            <a:ext cx="1645920" cy="32004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6603F"/>
                </a:solidFill>
                <a:latin typeface="Calibri"/>
              </a:defRPr>
            </a:pPr>
            <a:r>
              <a:t>One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164592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58" y="1920240"/>
            <a:ext cx="914400" cy="914400"/>
          </a:xfrm>
          <a:prstGeom prst="ellipse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58" y="19659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Start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Make your first API call and get live exchange rates</a:t>
            </a:r>
            <a:br/>
            <a:r>
              <a:t>Full docs at exchange-rateapi.com/docs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3998" y="4389120"/>
            <a:ext cx="1645920" cy="32004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998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6603F"/>
                </a:solidFill>
                <a:latin typeface="Calibri"/>
              </a:defRPr>
            </a:pPr>
            <a:r>
              <a:t>Under 5 minutes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303520"/>
            <a:ext cx="5760720" cy="731520"/>
          </a:xfrm>
          <a:prstGeom prst="round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3949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Start Free → exchange-rateapi.com/register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20"/>
              </a:spcAft>
              <a:defRPr sz="5200" b="1">
                <a:solidFill>
                  <a:srgbClr val="C6603F"/>
                </a:solidFill>
                <a:latin typeface="Calibri"/>
              </a:defRPr>
            </a:pPr>
            <a:r>
              <a:t>Exchange Rate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39"/>
              </a:spcAft>
              <a:defRPr sz="3400" b="1">
                <a:solidFill>
                  <a:srgbClr val="1A1A2E"/>
                </a:solidFill>
                <a:latin typeface="Calibri"/>
              </a:defRPr>
            </a:pPr>
            <a:r>
              <a:t>The Exchange Rate API</a:t>
            </a:r>
          </a:p>
          <a:p>
            <a:pPr algn="ctr">
              <a:spcAft>
                <a:spcPts val="2039"/>
              </a:spcAft>
              <a:defRPr sz="3400" b="1">
                <a:solidFill>
                  <a:srgbClr val="1A1A2E"/>
                </a:solidFill>
                <a:latin typeface="Calibri"/>
              </a:defRPr>
            </a:pPr>
            <a:r>
              <a:t>Developers &amp; Machines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2103120" cy="109728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160+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Currencies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474720"/>
            <a:ext cx="2103120" cy="109728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Update Interval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74720"/>
            <a:ext cx="2103120" cy="109728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&lt;50ms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474720"/>
            <a:ext cx="2103120" cy="1097280"/>
          </a:xfrm>
          <a:prstGeom prst="roundRect">
            <a:avLst/>
          </a:prstGeom>
          <a:solidFill>
            <a:srgbClr val="F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603F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Calibri"/>
              </a:defRPr>
            </a:pPr>
            <a:r>
              <a:t>Uptime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60"/>
              </a:spcAft>
              <a:defRPr sz="2600" b="1">
                <a:solidFill>
                  <a:srgbClr val="C6603F"/>
                </a:solidFill>
                <a:latin typeface="Calibri"/>
              </a:defRPr>
            </a:pPr>
            <a:r>
              <a:t>exchange-rateapi.com</a:t>
            </a:r>
          </a:p>
          <a:p>
            <a:pPr algn="ctr">
              <a:spcAft>
                <a:spcPts val="48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96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Website: exchange-rateapi.com  |  Docs: exchange-rateapi.com/docs</a:t>
            </a:r>
          </a:p>
          <a:p>
            <a:pPr algn="ctr">
              <a:spcAft>
                <a:spcPts val="96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GitHub: github.com/Exchange-RateAPI  |  NPM: @exchangerateapi/sdk  |  PyPI: exchange-rateapi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6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